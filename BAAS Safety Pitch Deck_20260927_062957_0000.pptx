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nter Ultra-Bold" charset="1" panose="02000503000000020004"/>
      <p:regular r:id="rId11"/>
    </p:embeddedFont>
    <p:embeddedFont>
      <p:font typeface="Inter" charset="1" panose="020B0502030000000004"/>
      <p:regular r:id="rId12"/>
    </p:embeddedFont>
    <p:embeddedFont>
      <p:font typeface="Inter Bold" charset="1" panose="020B0802030000000004"/>
      <p:regular r:id="rId13"/>
    </p:embeddedFont>
    <p:embeddedFont>
      <p:font typeface="Inter Semi-Bold" charset="1" panose="02000503000000020004"/>
      <p:regular r:id="rId14"/>
    </p:embeddedFont>
    <p:embeddedFont>
      <p:font typeface="Inter Medium" charset="1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4128" y="1637183"/>
            <a:ext cx="9966960" cy="333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42"/>
              </a:lnSpc>
            </a:pPr>
            <a:r>
              <a:rPr lang="en-US" sz="14416" spc="-576" b="true">
                <a:solidFill>
                  <a:srgbClr val="F1F1F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BAAS</a:t>
            </a:r>
          </a:p>
          <a:p>
            <a:pPr algn="l">
              <a:lnSpc>
                <a:spcPts val="12542"/>
              </a:lnSpc>
            </a:pPr>
            <a:r>
              <a:rPr lang="en-US" sz="14416" spc="-576" b="true">
                <a:solidFill>
                  <a:srgbClr val="F1F1F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Simulations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0704" y="5063835"/>
            <a:ext cx="10479024" cy="64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5"/>
              </a:lnSpc>
            </a:pPr>
            <a:r>
              <a:rPr lang="en-US" sz="4221" spc="-84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Socio-Economic Emergency Infrastructure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5783021"/>
            <a:ext cx="5239206" cy="1082267"/>
          </a:xfrm>
          <a:custGeom>
            <a:avLst/>
            <a:gdLst/>
            <a:ahLst/>
            <a:cxnLst/>
            <a:rect r="r" b="b" t="t" l="l"/>
            <a:pathLst>
              <a:path h="1082267" w="5239206">
                <a:moveTo>
                  <a:pt x="0" y="0"/>
                </a:moveTo>
                <a:lnTo>
                  <a:pt x="5239206" y="0"/>
                </a:lnTo>
                <a:lnTo>
                  <a:pt x="523920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9888" y="6134345"/>
            <a:ext cx="4206240" cy="44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893" spc="-57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Domain: GBV and Safety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0704" y="7286828"/>
            <a:ext cx="3054096" cy="26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sz="1657" b="true">
                <a:solidFill>
                  <a:srgbClr val="8C52FF"/>
                </a:solidFill>
                <a:latin typeface="Inter Bold"/>
                <a:ea typeface="Inter Bold"/>
                <a:cs typeface="Inter Bold"/>
                <a:sym typeface="Inter Bold"/>
              </a:rPr>
              <a:t>LEAD DEVELOPMENT HOUSE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704" y="7627556"/>
            <a:ext cx="4206240" cy="56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679" b="true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BAAS Simulations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8352038"/>
            <a:ext cx="10675292" cy="229572"/>
          </a:xfrm>
          <a:custGeom>
            <a:avLst/>
            <a:gdLst/>
            <a:ahLst/>
            <a:cxnLst/>
            <a:rect r="r" b="b" t="t" l="l"/>
            <a:pathLst>
              <a:path h="229572" w="10675292">
                <a:moveTo>
                  <a:pt x="0" y="0"/>
                </a:moveTo>
                <a:lnTo>
                  <a:pt x="10675292" y="0"/>
                </a:lnTo>
                <a:lnTo>
                  <a:pt x="10675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0704" y="8797287"/>
            <a:ext cx="2103120" cy="28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8C52FF"/>
                </a:solidFill>
                <a:latin typeface="Inter Bold"/>
                <a:ea typeface="Inter Bold"/>
                <a:cs typeface="Inter Bold"/>
                <a:sym typeface="Inter Bold"/>
              </a:rPr>
              <a:t>FOUNDING TEAM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0704" y="9207917"/>
            <a:ext cx="1938528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spc="-45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Bulelwa Ndela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11296" y="9207917"/>
            <a:ext cx="2487168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spc="-45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Sipheshile Mabena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8816" y="9207917"/>
            <a:ext cx="2615184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spc="-45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Akhona Maphumulo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9216" y="9207917"/>
            <a:ext cx="1719072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spc="-45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Andile Mzolo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713160"/>
            <a:ext cx="13075920" cy="1757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6351" spc="-285" b="true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Breaking Down the Critical Flaws</a:t>
            </a:r>
          </a:p>
          <a:p>
            <a:pPr algn="l">
              <a:lnSpc>
                <a:spcPts val="6859"/>
              </a:lnSpc>
            </a:pPr>
            <a:r>
              <a:rPr lang="en-US" sz="6351" spc="-285" b="true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in the Emergency Response Pipeline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572000" y="3214004"/>
            <a:ext cx="218756" cy="6438940"/>
          </a:xfrm>
          <a:custGeom>
            <a:avLst/>
            <a:gdLst/>
            <a:ahLst/>
            <a:cxnLst/>
            <a:rect r="r" b="b" t="t" l="l"/>
            <a:pathLst>
              <a:path h="6438940" w="218756">
                <a:moveTo>
                  <a:pt x="0" y="0"/>
                </a:moveTo>
                <a:lnTo>
                  <a:pt x="218756" y="0"/>
                </a:lnTo>
                <a:lnTo>
                  <a:pt x="218756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5244" y="3214004"/>
            <a:ext cx="218756" cy="6438940"/>
          </a:xfrm>
          <a:custGeom>
            <a:avLst/>
            <a:gdLst/>
            <a:ahLst/>
            <a:cxnLst/>
            <a:rect r="r" b="b" t="t" l="l"/>
            <a:pathLst>
              <a:path h="6438940" w="218756">
                <a:moveTo>
                  <a:pt x="0" y="0"/>
                </a:moveTo>
                <a:lnTo>
                  <a:pt x="218756" y="0"/>
                </a:lnTo>
                <a:lnTo>
                  <a:pt x="218756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78488" y="3214004"/>
            <a:ext cx="229694" cy="6438940"/>
          </a:xfrm>
          <a:custGeom>
            <a:avLst/>
            <a:gdLst/>
            <a:ahLst/>
            <a:cxnLst/>
            <a:rect r="r" b="b" t="t" l="l"/>
            <a:pathLst>
              <a:path h="6438940" w="229694">
                <a:moveTo>
                  <a:pt x="0" y="0"/>
                </a:moveTo>
                <a:lnTo>
                  <a:pt x="229694" y="0"/>
                </a:lnTo>
                <a:lnTo>
                  <a:pt x="229694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4944" y="3311914"/>
            <a:ext cx="2304288" cy="115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6"/>
              </a:lnSpc>
            </a:pPr>
            <a:r>
              <a:rPr lang="en-US" b="true" sz="3936" spc="-177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NOT FAST</a:t>
            </a:r>
          </a:p>
          <a:p>
            <a:pPr algn="l">
              <a:lnSpc>
                <a:spcPts val="4526"/>
              </a:lnSpc>
            </a:pPr>
            <a:r>
              <a:rPr lang="en-US" b="true" sz="3936" spc="-177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ENOUGH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944" y="4743811"/>
            <a:ext cx="2322576" cy="38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554" spc="-114" b="true">
                <a:solidFill>
                  <a:srgbClr val="A480FF"/>
                </a:solidFill>
                <a:latin typeface="Inter Bold"/>
                <a:ea typeface="Inter Bold"/>
                <a:cs typeface="Inter Bold"/>
                <a:sym typeface="Inter Bold"/>
              </a:rPr>
              <a:t>The Speed Void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944" y="5826427"/>
            <a:ext cx="3182112" cy="135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948">
                <a:solidFill>
                  <a:srgbClr val="1C1B2A"/>
                </a:solidFill>
                <a:latin typeface="Inter"/>
                <a:ea typeface="Inter"/>
                <a:cs typeface="Inter"/>
                <a:sym typeface="Inter"/>
              </a:rPr>
              <a:t>Official SAPS police response times in high-risk KZN townships take up to 2 hours or more.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944" y="7870693"/>
            <a:ext cx="2670048" cy="151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1C1B2A"/>
                </a:solidFill>
                <a:latin typeface="Inter"/>
                <a:ea typeface="Inter"/>
                <a:cs typeface="Inter"/>
                <a:sym typeface="Inter"/>
              </a:rPr>
              <a:t>Help does not arrive during the critical initial minutes of a violent attack.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02352" y="3332614"/>
            <a:ext cx="3364992" cy="112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b="true" sz="3859" spc="-173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PHYSICAL</a:t>
            </a:r>
          </a:p>
          <a:p>
            <a:pPr algn="l">
              <a:lnSpc>
                <a:spcPts val="4438"/>
              </a:lnSpc>
            </a:pPr>
            <a:r>
              <a:rPr lang="en-US" b="true" sz="3859" spc="-173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CONSTRAINTS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02352" y="4743811"/>
            <a:ext cx="2816352" cy="38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554" spc="-114" b="true">
                <a:solidFill>
                  <a:srgbClr val="A480FF"/>
                </a:solidFill>
                <a:latin typeface="Inter Bold"/>
                <a:ea typeface="Inter Bold"/>
                <a:cs typeface="Inter Bold"/>
                <a:sym typeface="Inter Bold"/>
              </a:rPr>
              <a:t>The Trigger Hazard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02352" y="5567227"/>
            <a:ext cx="3364992" cy="1481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1"/>
              </a:lnSpc>
            </a:pPr>
            <a:r>
              <a:rPr lang="en-US" sz="2093">
                <a:solidFill>
                  <a:srgbClr val="1C1B2A"/>
                </a:solidFill>
                <a:latin typeface="Inter"/>
                <a:ea typeface="Inter"/>
                <a:cs typeface="Inter"/>
                <a:sym typeface="Inter"/>
              </a:rPr>
              <a:t>Traditional manual panic buttons and emergency phone calls demand intentional physical action.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02352" y="7490749"/>
            <a:ext cx="2926080" cy="147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>
                <a:solidFill>
                  <a:srgbClr val="1C1B2A"/>
                </a:solidFill>
                <a:latin typeface="Inter"/>
                <a:ea typeface="Inter"/>
                <a:cs typeface="Inter"/>
                <a:sym typeface="Inter"/>
              </a:rPr>
              <a:t>This is dangerously unviable or completely fatal under active physical assault.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3184" y="3311914"/>
            <a:ext cx="3621024" cy="115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6"/>
              </a:lnSpc>
            </a:pPr>
            <a:r>
              <a:rPr lang="en-US" b="true" sz="3936" spc="-177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CONNECTIVITY</a:t>
            </a:r>
          </a:p>
          <a:p>
            <a:pPr algn="l">
              <a:lnSpc>
                <a:spcPts val="4526"/>
              </a:lnSpc>
            </a:pPr>
            <a:r>
              <a:rPr lang="en-US" b="true" sz="3936" spc="-177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ISOLATION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73184" y="4743811"/>
            <a:ext cx="2322576" cy="38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554" spc="-114" b="true">
                <a:solidFill>
                  <a:srgbClr val="A480FF"/>
                </a:solidFill>
                <a:latin typeface="Inter Bold"/>
                <a:ea typeface="Inter Bold"/>
                <a:cs typeface="Inter Bold"/>
                <a:sym typeface="Inter Bold"/>
              </a:rPr>
              <a:t>The Signal Lock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73184" y="5586976"/>
            <a:ext cx="3291840" cy="184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>
                <a:solidFill>
                  <a:srgbClr val="1C1B2A"/>
                </a:solidFill>
                <a:latin typeface="Inter"/>
                <a:ea typeface="Inter"/>
                <a:cs typeface="Inter"/>
                <a:sym typeface="Inter"/>
              </a:rPr>
              <a:t>Existing safety tracking applications depend completely on active airtime, data, or unlocked mobile screens.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73184" y="7846430"/>
            <a:ext cx="3054096" cy="114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166">
                <a:solidFill>
                  <a:srgbClr val="1C1B2A"/>
                </a:solidFill>
                <a:latin typeface="Inter"/>
                <a:ea typeface="Inter"/>
                <a:cs typeface="Inter"/>
                <a:sym typeface="Inter"/>
              </a:rPr>
              <a:t>Systems fail instantly when data and account balances are low.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44016" y="3311914"/>
            <a:ext cx="2103120" cy="115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6"/>
              </a:lnSpc>
            </a:pPr>
            <a:r>
              <a:rPr lang="en-US" b="true" sz="3936" spc="-177">
                <a:solidFill>
                  <a:srgbClr val="1C1B2A"/>
                </a:solidFill>
                <a:latin typeface="Inter Bold"/>
                <a:ea typeface="Inter Bold"/>
                <a:cs typeface="Inter Bold"/>
                <a:sym typeface="Inter Bold"/>
              </a:rPr>
              <a:t>LACK OF TRUST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44016" y="4743811"/>
            <a:ext cx="3474720" cy="38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554" spc="-114" b="true">
                <a:solidFill>
                  <a:srgbClr val="A480FF"/>
                </a:solidFill>
                <a:latin typeface="Inter Bold"/>
                <a:ea typeface="Inter Bold"/>
                <a:cs typeface="Inter Bold"/>
                <a:sym typeface="Inter Bold"/>
              </a:rPr>
              <a:t>The Accountability Gap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44016" y="5531855"/>
            <a:ext cx="2907792" cy="114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166">
                <a:solidFill>
                  <a:srgbClr val="1C1B2A"/>
                </a:solidFill>
                <a:latin typeface="Inter"/>
                <a:ea typeface="Inter"/>
                <a:cs typeface="Inter"/>
                <a:sym typeface="Inter"/>
              </a:rPr>
              <a:t>Victims lack a trusted, local neighborhood community network.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44016" y="7735328"/>
            <a:ext cx="3182112" cy="55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7"/>
              </a:lnSpc>
            </a:pPr>
            <a:r>
              <a:rPr lang="en-US" sz="1076">
                <a:solidFill>
                  <a:srgbClr val="1C1B2A"/>
                </a:solidFill>
                <a:latin typeface="Inter"/>
                <a:ea typeface="Inter"/>
                <a:cs typeface="Inter"/>
                <a:sym typeface="Inter"/>
              </a:rPr>
              <a:t>Concurrently, a systemic lack of un-tamperable evidence allows perpetrators to evade long-term legal justice.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604308"/>
            <a:ext cx="10753344" cy="166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0"/>
              </a:lnSpc>
            </a:pPr>
            <a:r>
              <a:rPr lang="en-US" sz="5730" spc="-286" b="true">
                <a:solidFill>
                  <a:srgbClr val="171834"/>
                </a:solidFill>
                <a:latin typeface="Inter Bold"/>
                <a:ea typeface="Inter Bold"/>
                <a:cs typeface="Inter Bold"/>
                <a:sym typeface="Inter Bold"/>
              </a:rPr>
              <a:t>The End-to-End Safety Pipeline: Technical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0432" y="3138092"/>
            <a:ext cx="768096" cy="88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b="true" sz="5903" spc="-295">
                <a:solidFill>
                  <a:srgbClr val="8C52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76622" y="2350377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1952" y="2776725"/>
            <a:ext cx="1104718" cy="1519546"/>
          </a:xfrm>
          <a:custGeom>
            <a:avLst/>
            <a:gdLst/>
            <a:ahLst/>
            <a:cxnLst/>
            <a:rect r="r" b="b" t="t" l="l"/>
            <a:pathLst>
              <a:path h="1519546" w="1104718">
                <a:moveTo>
                  <a:pt x="0" y="0"/>
                </a:moveTo>
                <a:lnTo>
                  <a:pt x="1104718" y="0"/>
                </a:lnTo>
                <a:lnTo>
                  <a:pt x="110471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0432" y="4605925"/>
            <a:ext cx="3474720" cy="71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435" b="true">
                <a:solidFill>
                  <a:srgbClr val="171834"/>
                </a:solidFill>
                <a:latin typeface="Inter Bold"/>
                <a:ea typeface="Inter Bold"/>
                <a:cs typeface="Inter Bold"/>
                <a:sym typeface="Inter Bold"/>
              </a:rPr>
              <a:t>THE WEARABLE NODE</a:t>
            </a:r>
          </a:p>
          <a:p>
            <a:pPr algn="l">
              <a:lnSpc>
                <a:spcPts val="2801"/>
              </a:lnSpc>
            </a:pPr>
            <a:r>
              <a:rPr lang="en-US" sz="2435" b="true">
                <a:solidFill>
                  <a:srgbClr val="171834"/>
                </a:solidFill>
                <a:latin typeface="Inter Bold"/>
                <a:ea typeface="Inter Bold"/>
                <a:cs typeface="Inter Bold"/>
                <a:sym typeface="Inter Bold"/>
              </a:rPr>
              <a:t>(Dual-Antenna Watch)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0432" y="5571566"/>
            <a:ext cx="3401568" cy="26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819" b="true">
                <a:solidFill>
                  <a:srgbClr val="8C52FF"/>
                </a:solidFill>
                <a:latin typeface="Inter Bold"/>
                <a:ea typeface="Inter Bold"/>
                <a:cs typeface="Inter Bold"/>
                <a:sym typeface="Inter Bold"/>
              </a:rPr>
              <a:t>The Smartwatch Edge Trigger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0432" y="6006609"/>
            <a:ext cx="4279392" cy="121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606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The device monitors live vitals and sound. When a panic condition is met, its integrated dual-antenna array fires instantly.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0432" y="7424957"/>
            <a:ext cx="4279392" cy="90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606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Antenna 1: Dedicated GPS Module for pinpointing the wearer's exact geographic coordinates.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0432" y="8546240"/>
            <a:ext cx="4224528" cy="90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606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Antenna 2: Local Mesh/Satellite Antenna to immediately transmit location + alert data completely offline.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353244" y="3421712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76288" y="3137959"/>
            <a:ext cx="877824" cy="882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7"/>
              </a:lnSpc>
            </a:pPr>
            <a:r>
              <a:rPr lang="en-US" b="true" sz="5945" spc="-297">
                <a:solidFill>
                  <a:srgbClr val="8C52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50220" y="2350377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87732" y="2776725"/>
            <a:ext cx="1312536" cy="1519546"/>
          </a:xfrm>
          <a:custGeom>
            <a:avLst/>
            <a:gdLst/>
            <a:ahLst/>
            <a:cxnLst/>
            <a:rect r="r" b="b" t="t" l="l"/>
            <a:pathLst>
              <a:path h="1519546" w="1312536">
                <a:moveTo>
                  <a:pt x="0" y="0"/>
                </a:moveTo>
                <a:lnTo>
                  <a:pt x="1312536" y="0"/>
                </a:lnTo>
                <a:lnTo>
                  <a:pt x="131253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784848" y="4597341"/>
            <a:ext cx="3474720" cy="73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95" b="true">
                <a:solidFill>
                  <a:srgbClr val="171834"/>
                </a:solidFill>
                <a:latin typeface="Inter Bold"/>
                <a:ea typeface="Inter Bold"/>
                <a:cs typeface="Inter Bold"/>
                <a:sym typeface="Inter Bold"/>
              </a:rPr>
              <a:t>THE BAAS CLOUD HUB</a:t>
            </a:r>
          </a:p>
          <a:p>
            <a:pPr algn="l">
              <a:lnSpc>
                <a:spcPts val="1949"/>
              </a:lnSpc>
            </a:pPr>
            <a:r>
              <a:rPr lang="en-US" sz="1695" b="true">
                <a:solidFill>
                  <a:srgbClr val="171834"/>
                </a:solidFill>
                <a:latin typeface="Inter Bold"/>
                <a:ea typeface="Inter Bold"/>
                <a:cs typeface="Inter Bold"/>
                <a:sym typeface="Inter Bold"/>
              </a:rPr>
              <a:t>(Data Processing &amp; Security Storage)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84848" y="5571566"/>
            <a:ext cx="3401568" cy="26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819" b="true">
                <a:solidFill>
                  <a:srgbClr val="8C52FF"/>
                </a:solidFill>
                <a:latin typeface="Inter Bold"/>
                <a:ea typeface="Inter Bold"/>
                <a:cs typeface="Inter Bold"/>
                <a:sym typeface="Inter Bold"/>
              </a:rPr>
              <a:t>The Secure Cloud Hub Server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84848" y="5998951"/>
            <a:ext cx="3694176" cy="59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606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Functions as the central operations terminal.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84848" y="7557379"/>
            <a:ext cx="4279392" cy="174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310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It intercepts the broadcast data payload, logs it into a secure SQL database ledger, and permanently stores:</a:t>
            </a:r>
          </a:p>
          <a:p>
            <a:pPr algn="l">
              <a:lnSpc>
                <a:spcPts val="2031"/>
              </a:lnSpc>
            </a:pPr>
          </a:p>
          <a:p>
            <a:pPr algn="l">
              <a:lnSpc>
                <a:spcPts val="2031"/>
              </a:lnSpc>
            </a:pPr>
            <a:r>
              <a:rPr lang="en-US" sz="1310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Timestamp</a:t>
            </a:r>
          </a:p>
          <a:p>
            <a:pPr algn="l">
              <a:lnSpc>
                <a:spcPts val="2031"/>
              </a:lnSpc>
            </a:pPr>
            <a:r>
              <a:rPr lang="en-US" sz="1310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GPS Coordinated</a:t>
            </a:r>
          </a:p>
          <a:p>
            <a:pPr algn="l">
              <a:lnSpc>
                <a:spcPts val="2031"/>
              </a:lnSpc>
            </a:pPr>
            <a:r>
              <a:rPr lang="en-US" sz="1310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Biometric Heart Rates</a:t>
            </a:r>
          </a:p>
          <a:p>
            <a:pPr algn="l">
              <a:lnSpc>
                <a:spcPts val="2031"/>
              </a:lnSpc>
            </a:pPr>
            <a:r>
              <a:rPr lang="en-US" sz="1310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Encrypted Ambient Voice Data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26842" y="3421712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289536" y="3149421"/>
            <a:ext cx="877824" cy="85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5"/>
              </a:lnSpc>
            </a:pPr>
            <a:r>
              <a:rPr lang="en-US" b="true" sz="5778" spc="-288">
                <a:solidFill>
                  <a:srgbClr val="8C52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278488" y="2350377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716000" y="2995365"/>
            <a:ext cx="1531292" cy="863627"/>
          </a:xfrm>
          <a:custGeom>
            <a:avLst/>
            <a:gdLst/>
            <a:ahLst/>
            <a:cxnLst/>
            <a:rect r="r" b="b" t="t" l="l"/>
            <a:pathLst>
              <a:path h="863627" w="1531292">
                <a:moveTo>
                  <a:pt x="0" y="0"/>
                </a:moveTo>
                <a:lnTo>
                  <a:pt x="1531292" y="0"/>
                </a:lnTo>
                <a:lnTo>
                  <a:pt x="153129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179808" y="4626663"/>
            <a:ext cx="4078224" cy="68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2346" b="true">
                <a:solidFill>
                  <a:srgbClr val="171834"/>
                </a:solidFill>
                <a:latin typeface="Inter Bold"/>
                <a:ea typeface="Inter Bold"/>
                <a:cs typeface="Inter Bold"/>
                <a:sym typeface="Inter Bold"/>
              </a:rPr>
              <a:t>THE PROXIMITY RESPONSE</a:t>
            </a:r>
          </a:p>
          <a:p>
            <a:pPr algn="l">
              <a:lnSpc>
                <a:spcPts val="2698"/>
              </a:lnSpc>
            </a:pPr>
            <a:r>
              <a:rPr lang="en-US" sz="2346" b="true">
                <a:solidFill>
                  <a:srgbClr val="171834"/>
                </a:solidFill>
                <a:latin typeface="Inter Bold"/>
                <a:ea typeface="Inter Bold"/>
                <a:cs typeface="Inter Bold"/>
                <a:sym typeface="Inter Bold"/>
              </a:rPr>
              <a:t>(Instant Local Mobilization)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79808" y="5571566"/>
            <a:ext cx="3511296" cy="26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819" b="true">
                <a:solidFill>
                  <a:srgbClr val="8C52FF"/>
                </a:solidFill>
                <a:latin typeface="Inter Bold"/>
                <a:ea typeface="Inter Bold"/>
                <a:cs typeface="Inter Bold"/>
                <a:sym typeface="Inter Bold"/>
              </a:rPr>
              <a:t>Automated Routing &amp; Dispatch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79808" y="6216235"/>
            <a:ext cx="4279392" cy="90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606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Authorized community contacts and closest responders instantly receive an automated SMS alert containing a secure map link.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79808" y="7698820"/>
            <a:ext cx="4023360" cy="121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606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The moment the link is tapped, navigating apps calculate the absolute fastest route to the physical</a:t>
            </a:r>
          </a:p>
          <a:p>
            <a:pPr algn="l">
              <a:lnSpc>
                <a:spcPts val="2490"/>
              </a:lnSpc>
            </a:pPr>
            <a:r>
              <a:rPr lang="en-US" sz="1606">
                <a:solidFill>
                  <a:srgbClr val="171834"/>
                </a:solidFill>
                <a:latin typeface="Inter"/>
                <a:ea typeface="Inter"/>
                <a:cs typeface="Inter"/>
                <a:sym typeface="Inter"/>
              </a:rPr>
              <a:t>incident point.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75196" y="634055"/>
            <a:ext cx="10248718" cy="9018889"/>
          </a:xfrm>
          <a:custGeom>
            <a:avLst/>
            <a:gdLst/>
            <a:ahLst/>
            <a:cxnLst/>
            <a:rect r="r" b="b" t="t" l="l"/>
            <a:pathLst>
              <a:path h="9018889" w="10248718">
                <a:moveTo>
                  <a:pt x="0" y="0"/>
                </a:moveTo>
                <a:lnTo>
                  <a:pt x="10248718" y="0"/>
                </a:lnTo>
                <a:lnTo>
                  <a:pt x="10248718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3952" y="852695"/>
            <a:ext cx="9811206" cy="8362970"/>
          </a:xfrm>
          <a:custGeom>
            <a:avLst/>
            <a:gdLst/>
            <a:ahLst/>
            <a:cxnLst/>
            <a:rect r="r" b="b" t="t" l="l"/>
            <a:pathLst>
              <a:path h="8362970" w="9811206">
                <a:moveTo>
                  <a:pt x="0" y="0"/>
                </a:moveTo>
                <a:lnTo>
                  <a:pt x="9811206" y="0"/>
                </a:lnTo>
                <a:lnTo>
                  <a:pt x="9811206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8976" y="1705390"/>
            <a:ext cx="3489158" cy="3869923"/>
          </a:xfrm>
          <a:custGeom>
            <a:avLst/>
            <a:gdLst/>
            <a:ahLst/>
            <a:cxnLst/>
            <a:rect r="r" b="b" t="t" l="l"/>
            <a:pathLst>
              <a:path h="3869923" w="3489158">
                <a:moveTo>
                  <a:pt x="0" y="0"/>
                </a:moveTo>
                <a:lnTo>
                  <a:pt x="3489158" y="0"/>
                </a:lnTo>
                <a:lnTo>
                  <a:pt x="348915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84708" y="852695"/>
            <a:ext cx="5020450" cy="5148966"/>
          </a:xfrm>
          <a:custGeom>
            <a:avLst/>
            <a:gdLst/>
            <a:ahLst/>
            <a:cxnLst/>
            <a:rect r="r" b="b" t="t" l="l"/>
            <a:pathLst>
              <a:path h="5148966" w="5020450">
                <a:moveTo>
                  <a:pt x="0" y="0"/>
                </a:moveTo>
                <a:lnTo>
                  <a:pt x="5020450" y="0"/>
                </a:lnTo>
                <a:lnTo>
                  <a:pt x="5020450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89330" y="5990729"/>
            <a:ext cx="4801694" cy="3017228"/>
          </a:xfrm>
          <a:custGeom>
            <a:avLst/>
            <a:gdLst/>
            <a:ahLst/>
            <a:cxnLst/>
            <a:rect r="r" b="b" t="t" l="l"/>
            <a:pathLst>
              <a:path h="3017228" w="4801694">
                <a:moveTo>
                  <a:pt x="0" y="0"/>
                </a:moveTo>
                <a:lnTo>
                  <a:pt x="4801694" y="0"/>
                </a:lnTo>
                <a:lnTo>
                  <a:pt x="480169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6574" y="1705390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0352" y="2329733"/>
            <a:ext cx="6473952" cy="243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5"/>
              </a:lnSpc>
            </a:pPr>
            <a:r>
              <a:rPr lang="en-US" sz="6072" spc="-242" b="true">
                <a:solidFill>
                  <a:srgbClr val="151B39"/>
                </a:solidFill>
                <a:latin typeface="Inter Bold"/>
                <a:ea typeface="Inter Bold"/>
                <a:cs typeface="Inter Bold"/>
                <a:sym typeface="Inter Bold"/>
              </a:rPr>
              <a:t>Smartwatch Engineered for Real Emergencies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6574" y="5138034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0352" y="5850309"/>
            <a:ext cx="5065776" cy="62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248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Wearable protection that senses, alerts, and connects when it matters.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0352" y="6867465"/>
            <a:ext cx="329184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248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Purpose-built hardware.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0352" y="7556694"/>
            <a:ext cx="4005072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248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Mission–critical performance.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0352" y="8256497"/>
            <a:ext cx="3767328" cy="64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299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Designed for the moments that count.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925244" y="6428009"/>
            <a:ext cx="5884536" cy="218640"/>
          </a:xfrm>
          <a:custGeom>
            <a:avLst/>
            <a:gdLst/>
            <a:ahLst/>
            <a:cxnLst/>
            <a:rect r="r" b="b" t="t" l="l"/>
            <a:pathLst>
              <a:path h="218640" w="5884536">
                <a:moveTo>
                  <a:pt x="0" y="0"/>
                </a:moveTo>
                <a:lnTo>
                  <a:pt x="5884536" y="0"/>
                </a:lnTo>
                <a:lnTo>
                  <a:pt x="588453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25244" y="7707051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59732" y="7925691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30352" y="1502511"/>
            <a:ext cx="2432304" cy="26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857" b="true">
                <a:solidFill>
                  <a:srgbClr val="9B6BFF"/>
                </a:solidFill>
                <a:latin typeface="Inter Bold"/>
                <a:ea typeface="Inter Bold"/>
                <a:cs typeface="Inter Bold"/>
                <a:sym typeface="Inter Bold"/>
              </a:rPr>
              <a:t>BAAS SIMULATIONS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28432" y="6462942"/>
            <a:ext cx="1078992" cy="15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"/>
              </a:lnSpc>
            </a:pPr>
            <a:r>
              <a:rPr lang="en-US" sz="1173" b="true">
                <a:solidFill>
                  <a:srgbClr val="151B39"/>
                </a:solidFill>
                <a:latin typeface="Inter Bold"/>
                <a:ea typeface="Inter Bold"/>
                <a:cs typeface="Inter Bold"/>
                <a:sym typeface="Inter Bold"/>
              </a:rPr>
              <a:t>Sound Sensor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28432" y="6695337"/>
            <a:ext cx="1078992" cy="14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"/>
              </a:lnSpc>
            </a:pPr>
            <a:r>
              <a:rPr lang="en-US" sz="1076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Detects distress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54112" y="7553364"/>
            <a:ext cx="1444752" cy="15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"/>
              </a:lnSpc>
            </a:pPr>
            <a:r>
              <a:rPr lang="en-US" sz="1173" b="true">
                <a:solidFill>
                  <a:srgbClr val="151B39"/>
                </a:solidFill>
                <a:latin typeface="Inter Bold"/>
                <a:ea typeface="Inter Bold"/>
                <a:cs typeface="Inter Bold"/>
                <a:sym typeface="Inter Bold"/>
              </a:rPr>
              <a:t>Pulse-Rate Monitor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54112" y="7713257"/>
            <a:ext cx="1444752" cy="3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1173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Detects stress</a:t>
            </a:r>
          </a:p>
          <a:p>
            <a:pPr algn="l">
              <a:lnSpc>
                <a:spcPts val="1525"/>
              </a:lnSpc>
            </a:pPr>
            <a:r>
              <a:rPr lang="en-US" sz="1173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/ elevated heart rate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76704" y="6462942"/>
            <a:ext cx="950976" cy="15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"/>
              </a:lnSpc>
            </a:pPr>
            <a:r>
              <a:rPr lang="en-US" sz="1173" b="true">
                <a:solidFill>
                  <a:srgbClr val="151B39"/>
                </a:solidFill>
                <a:latin typeface="Inter Bold"/>
                <a:ea typeface="Inter Bold"/>
                <a:cs typeface="Inter Bold"/>
                <a:sym typeface="Inter Bold"/>
              </a:rPr>
              <a:t>GPS Module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76704" y="6690428"/>
            <a:ext cx="1225296" cy="16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108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Real-time location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76704" y="7244754"/>
            <a:ext cx="1627632" cy="15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"/>
              </a:lnSpc>
            </a:pPr>
            <a:r>
              <a:rPr lang="en-US" sz="1173" b="true">
                <a:solidFill>
                  <a:srgbClr val="151B39"/>
                </a:solidFill>
                <a:latin typeface="Inter Bold"/>
                <a:ea typeface="Inter Bold"/>
                <a:cs typeface="Inter Bold"/>
                <a:sym typeface="Inter Bold"/>
              </a:rPr>
              <a:t>Rechargeable Battery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76704" y="7461953"/>
            <a:ext cx="1261872" cy="16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108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Long life, compact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76704" y="8016279"/>
            <a:ext cx="530352" cy="15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"/>
              </a:lnSpc>
            </a:pPr>
            <a:r>
              <a:rPr lang="en-US" sz="1173" b="true">
                <a:solidFill>
                  <a:srgbClr val="151B39"/>
                </a:solidFill>
                <a:latin typeface="Inter Bold"/>
                <a:ea typeface="Inter Bold"/>
                <a:cs typeface="Inter Bold"/>
                <a:sym typeface="Inter Bold"/>
              </a:rPr>
              <a:t>Buzzer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76704" y="8264134"/>
            <a:ext cx="1261872" cy="16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41">
                <a:solidFill>
                  <a:srgbClr val="151B39"/>
                </a:solidFill>
                <a:latin typeface="Inter"/>
                <a:ea typeface="Inter"/>
                <a:cs typeface="Inter"/>
                <a:sym typeface="Inter"/>
              </a:rPr>
              <a:t>Local audible alert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504404"/>
            <a:ext cx="11558016" cy="106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5"/>
              </a:lnSpc>
            </a:pPr>
            <a:r>
              <a:rPr lang="en-US" sz="6962" spc="-348" b="true">
                <a:solidFill>
                  <a:srgbClr val="0B072C"/>
                </a:solidFill>
                <a:latin typeface="Inter Bold"/>
                <a:ea typeface="Inter Bold"/>
                <a:cs typeface="Inter Bold"/>
                <a:sym typeface="Inter Bold"/>
              </a:rPr>
              <a:t>Monetizing the Infrastructure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924030"/>
            <a:ext cx="5457962" cy="1082267"/>
          </a:xfrm>
          <a:custGeom>
            <a:avLst/>
            <a:gdLst/>
            <a:ahLst/>
            <a:cxnLst/>
            <a:rect r="r" b="b" t="t" l="l"/>
            <a:pathLst>
              <a:path h="1082267" w="5457962">
                <a:moveTo>
                  <a:pt x="0" y="0"/>
                </a:moveTo>
                <a:lnTo>
                  <a:pt x="5457962" y="0"/>
                </a:lnTo>
                <a:lnTo>
                  <a:pt x="5457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61872" y="2057850"/>
            <a:ext cx="3877056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b="true" sz="1857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GOVERNMENT B2G CONTRACTS</a:t>
            </a:r>
          </a:p>
          <a:p>
            <a:pPr algn="ctr">
              <a:lnSpc>
                <a:spcPts val="2971"/>
              </a:lnSpc>
            </a:pPr>
            <a:r>
              <a:rPr lang="en-US" b="true" sz="1857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(THE NATIONAL GBVF FUND)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9536" y="3209628"/>
            <a:ext cx="4498848" cy="3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469" spc="-74" b="true">
                <a:solidFill>
                  <a:srgbClr val="0B072C"/>
                </a:solidFill>
                <a:latin typeface="Inter Bold"/>
                <a:ea typeface="Inter Bold"/>
                <a:cs typeface="Inter Bold"/>
                <a:sym typeface="Inter Bold"/>
              </a:rPr>
              <a:t>National GBVF Fund Allocation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536" y="3943683"/>
            <a:ext cx="4626864" cy="173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857" b="true">
                <a:solidFill>
                  <a:srgbClr val="0B072C"/>
                </a:solidFill>
                <a:latin typeface="Inter Medium"/>
                <a:ea typeface="Inter Medium"/>
                <a:cs typeface="Inter Medium"/>
                <a:sym typeface="Inter Medium"/>
              </a:rPr>
              <a:t>Bulk provincial procurement contracts. Units are manufactured for R80 and sold in wholesale batches to municipalities for R180 per unit, distributed to vulnerable wards for free.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536" y="6433235"/>
            <a:ext cx="4572000" cy="686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857" b="true">
                <a:solidFill>
                  <a:srgbClr val="0B072C"/>
                </a:solidFill>
                <a:latin typeface="Inter Medium"/>
                <a:ea typeface="Inter Medium"/>
                <a:cs typeface="Inter Medium"/>
                <a:sym typeface="Inter Medium"/>
              </a:rPr>
              <a:t>Upfront R100 net profit margin per watch via national social relief budgets.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8133399"/>
            <a:ext cx="5020450" cy="1727254"/>
          </a:xfrm>
          <a:custGeom>
            <a:avLst/>
            <a:gdLst/>
            <a:ahLst/>
            <a:cxnLst/>
            <a:rect r="r" b="b" t="t" l="l"/>
            <a:pathLst>
              <a:path h="1727254" w="5020450">
                <a:moveTo>
                  <a:pt x="0" y="0"/>
                </a:moveTo>
                <a:lnTo>
                  <a:pt x="5020450" y="0"/>
                </a:lnTo>
                <a:lnTo>
                  <a:pt x="502045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4560" y="8403430"/>
            <a:ext cx="1956816" cy="90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4"/>
              </a:lnSpc>
            </a:pPr>
            <a:r>
              <a:rPr lang="en-US" b="true" sz="5986" spc="-179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R100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8800" y="9259040"/>
            <a:ext cx="2724912" cy="29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b="true" sz="1606" spc="-48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net profit margin per watch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2354" y="1924030"/>
            <a:ext cx="229694" cy="7936623"/>
          </a:xfrm>
          <a:custGeom>
            <a:avLst/>
            <a:gdLst/>
            <a:ahLst/>
            <a:cxnLst/>
            <a:rect r="r" b="b" t="t" l="l"/>
            <a:pathLst>
              <a:path h="7936623" w="229694">
                <a:moveTo>
                  <a:pt x="0" y="0"/>
                </a:moveTo>
                <a:lnTo>
                  <a:pt x="229694" y="0"/>
                </a:lnTo>
                <a:lnTo>
                  <a:pt x="229694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11110" y="1924030"/>
            <a:ext cx="5447024" cy="1082267"/>
          </a:xfrm>
          <a:custGeom>
            <a:avLst/>
            <a:gdLst/>
            <a:ahLst/>
            <a:cxnLst/>
            <a:rect r="r" b="b" t="t" l="l"/>
            <a:pathLst>
              <a:path h="1082267" w="5447024">
                <a:moveTo>
                  <a:pt x="0" y="0"/>
                </a:moveTo>
                <a:lnTo>
                  <a:pt x="5447024" y="0"/>
                </a:lnTo>
                <a:lnTo>
                  <a:pt x="5447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21424" y="2057850"/>
            <a:ext cx="4498848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b="true" sz="1857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PRIVATE SECURITY B2B INTEGRATION</a:t>
            </a:r>
          </a:p>
          <a:p>
            <a:pPr algn="ctr">
              <a:lnSpc>
                <a:spcPts val="2971"/>
              </a:lnSpc>
            </a:pPr>
            <a:r>
              <a:rPr lang="en-US" b="true" sz="1857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(SAAS LICENSING)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11696" y="3226026"/>
            <a:ext cx="4791456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2271" spc="-68" b="true">
                <a:solidFill>
                  <a:srgbClr val="0B072C"/>
                </a:solidFill>
                <a:latin typeface="Inter Bold"/>
                <a:ea typeface="Inter Bold"/>
                <a:cs typeface="Inter Bold"/>
                <a:sym typeface="Inter Bold"/>
              </a:rPr>
              <a:t>Private Security Control Room SaaS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11696" y="4076404"/>
            <a:ext cx="4718304" cy="3270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1744" b="true">
                <a:solidFill>
                  <a:srgbClr val="0B072C"/>
                </a:solidFill>
                <a:latin typeface="Inter Medium"/>
                <a:ea typeface="Inter Medium"/>
                <a:cs typeface="Inter Medium"/>
                <a:sym typeface="Inter Medium"/>
              </a:rPr>
              <a:t>Tiered monthly software licensing fees charged to private security operators (like Fidelity ADT, Blue Security, and local armed response firms) to feed live, hyper-localized mesh panic streams directly into their dispatch computers.</a:t>
            </a:r>
          </a:p>
          <a:p>
            <a:pPr algn="l">
              <a:lnSpc>
                <a:spcPts val="2616"/>
              </a:lnSpc>
            </a:pPr>
          </a:p>
          <a:p>
            <a:pPr algn="l">
              <a:lnSpc>
                <a:spcPts val="2616"/>
              </a:lnSpc>
            </a:pPr>
            <a:r>
              <a:rPr lang="en-US" sz="1744" b="true">
                <a:solidFill>
                  <a:srgbClr val="0B072C"/>
                </a:solidFill>
                <a:latin typeface="Inter Medium"/>
                <a:ea typeface="Inter Medium"/>
                <a:cs typeface="Inter Medium"/>
                <a:sym typeface="Inter Medium"/>
              </a:rPr>
              <a:t>Predictable, recurring contract revenue scaling at R5,000 / month per urban/township zone grid.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529866" y="8133399"/>
            <a:ext cx="5009512" cy="1727254"/>
          </a:xfrm>
          <a:custGeom>
            <a:avLst/>
            <a:gdLst/>
            <a:ahLst/>
            <a:cxnLst/>
            <a:rect r="r" b="b" t="t" l="l"/>
            <a:pathLst>
              <a:path h="1727254" w="5009512">
                <a:moveTo>
                  <a:pt x="0" y="0"/>
                </a:moveTo>
                <a:lnTo>
                  <a:pt x="5009512" y="0"/>
                </a:lnTo>
                <a:lnTo>
                  <a:pt x="500951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132320" y="8530554"/>
            <a:ext cx="3877056" cy="64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3"/>
              </a:lnSpc>
            </a:pPr>
            <a:r>
              <a:rPr lang="en-US" b="true" sz="4186" spc="-125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R5,000 / month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71232" y="9238466"/>
            <a:ext cx="2999232" cy="29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b="true" sz="1606" spc="-48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per urban/township zone grid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965952" y="1924030"/>
            <a:ext cx="229694" cy="7936623"/>
          </a:xfrm>
          <a:custGeom>
            <a:avLst/>
            <a:gdLst/>
            <a:ahLst/>
            <a:cxnLst/>
            <a:rect r="r" b="b" t="t" l="l"/>
            <a:pathLst>
              <a:path h="7936623" w="229694">
                <a:moveTo>
                  <a:pt x="0" y="0"/>
                </a:moveTo>
                <a:lnTo>
                  <a:pt x="229694" y="0"/>
                </a:lnTo>
                <a:lnTo>
                  <a:pt x="229694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84708" y="1924030"/>
            <a:ext cx="5457962" cy="1082267"/>
          </a:xfrm>
          <a:custGeom>
            <a:avLst/>
            <a:gdLst/>
            <a:ahLst/>
            <a:cxnLst/>
            <a:rect r="r" b="b" t="t" l="l"/>
            <a:pathLst>
              <a:path h="1082267" w="5457962">
                <a:moveTo>
                  <a:pt x="0" y="0"/>
                </a:moveTo>
                <a:lnTo>
                  <a:pt x="5457962" y="0"/>
                </a:lnTo>
                <a:lnTo>
                  <a:pt x="5457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380976" y="2057850"/>
            <a:ext cx="5084064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b="true" sz="1857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MICRO-INSURANCE B2B2C PARTNERSHIPS</a:t>
            </a:r>
          </a:p>
          <a:p>
            <a:pPr algn="ctr">
              <a:lnSpc>
                <a:spcPts val="2971"/>
              </a:lnSpc>
            </a:pPr>
            <a:r>
              <a:rPr lang="en-US" b="true" sz="1857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(RISK MITIGATION)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18720" y="3226026"/>
            <a:ext cx="4315968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2271" spc="-68" b="true">
                <a:solidFill>
                  <a:srgbClr val="0B072C"/>
                </a:solidFill>
                <a:latin typeface="Inter Bold"/>
                <a:ea typeface="Inter Bold"/>
                <a:cs typeface="Inter Bold"/>
                <a:sym typeface="Inter Bold"/>
              </a:rPr>
              <a:t>Corporate Micro-Policy Bundles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18720" y="5530234"/>
            <a:ext cx="4718304" cy="97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915" b="true">
                <a:solidFill>
                  <a:srgbClr val="0B072C"/>
                </a:solidFill>
                <a:latin typeface="Inter Medium"/>
                <a:ea typeface="Inter Medium"/>
                <a:cs typeface="Inter Medium"/>
                <a:sym typeface="Inter Medium"/>
              </a:rPr>
              <a:t>Wholesale hardware distribution partnerships with low-cost insurance providers (e.g., Hollard, 1Life, Vodacom Insurance). Providers purchase the watches in bulk to bundle as free value:add safety items with their R30–R50/month micro-policies.</a:t>
            </a:r>
          </a:p>
          <a:p>
            <a:pPr algn="l">
              <a:lnSpc>
                <a:spcPts val="1372"/>
              </a:lnSpc>
            </a:pPr>
          </a:p>
          <a:p>
            <a:pPr algn="l">
              <a:lnSpc>
                <a:spcPts val="1372"/>
              </a:lnSpc>
            </a:pPr>
            <a:r>
              <a:rPr lang="en-US" sz="915" b="true">
                <a:solidFill>
                  <a:srgbClr val="0B072C"/>
                </a:solidFill>
                <a:latin typeface="Inter Medium"/>
                <a:ea typeface="Inter Medium"/>
                <a:cs typeface="Inter Medium"/>
                <a:sym typeface="Inter Medium"/>
              </a:rPr>
              <a:t>Direct corporate wholesale acquisition fees. Keeps devices free for end-users while lowering policyholder injury risk metrics for insurers.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403464" y="8133399"/>
            <a:ext cx="5239206" cy="1727254"/>
          </a:xfrm>
          <a:custGeom>
            <a:avLst/>
            <a:gdLst/>
            <a:ahLst/>
            <a:cxnLst/>
            <a:rect r="r" b="b" t="t" l="l"/>
            <a:pathLst>
              <a:path h="1727254" w="5239206">
                <a:moveTo>
                  <a:pt x="0" y="0"/>
                </a:moveTo>
                <a:lnTo>
                  <a:pt x="5239206" y="0"/>
                </a:lnTo>
                <a:lnTo>
                  <a:pt x="523920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856464" y="8530554"/>
            <a:ext cx="4315968" cy="64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US" b="true" sz="4217" spc="-126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R30–R50 / month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73200" y="9238466"/>
            <a:ext cx="1682496" cy="29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b="true" sz="1606" spc="-48">
                <a:solidFill>
                  <a:srgbClr val="6A25D0"/>
                </a:solidFill>
                <a:latin typeface="Inter Bold"/>
                <a:ea typeface="Inter Bold"/>
                <a:cs typeface="Inter Bold"/>
                <a:sym typeface="Inter Bold"/>
              </a:rPr>
              <a:t>per micro-policy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DAHWXKjR8w8</dc:identifier>
  <dcterms:modified xsi:type="dcterms:W3CDTF">2011-08-01T06:04:30Z</dcterms:modified>
  <cp:revision>1</cp:revision>
  <dc:title>BAAS Safety Pitch Deck</dc:title>
</cp:coreProperties>
</file>